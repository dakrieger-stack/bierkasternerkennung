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Begrüßung und Projektziel: Wir erkennen in Echtzeit, wie voll ein Bierkasten ist – zwei Fragen: Sind alle Flaschen da, und sind sie voll (Kronkorken) oder leer. Prototyp ist der Paulaner-Kasten mit 20 Slots im 4x5-Raster. Methodisch kombinieren wir klassische Bildverarbeitung (schnell, kein Training) mit Machine Learning (robust gegen Licht und Reflexionen). Die Pipeline unten zeigt die sieben Schritte pro Frame – orange ist umgesetzt, grau ist für Juni geplant. Wir stehen bei etwa der Hälfte: die ersten vier geometrischen Schritte laufen.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ist unser aktueller Fokus und Kern dieses Termins. Die Kastendetektion läuft zweigleisig: YOLOv8 ist der primäre Detektor – das Fine-Tuning ist vorbereitet, aber noch nicht trainiert; deshalb nutzen wir aktuell den klassischen Fallback (Canny, Konturen, minAreaRect), der sofort ohne Training funktioniert. Die Schnittstelle detect_crate liefert eine Bounding Box plus vier Eckpunkte – genau die Eingabe fürs Grid-Modul. Darauf folgt die perspektivische Entzerrung in eine Draufsicht und das 4x5-Grid mit 20 Slot-Mittelpunkten, die wir auch ins Originalbild zurückrechnen. Ein automatischer Smoke-Test bestätigt, dass die Kette Detektion → Entzerrung → Grid durchläuft. Wichtig zur Ehrlichkeit: Die gezeigten Bilder sind ein synthetischer Test, da wir noch keine echten gelabelten Fotos haben.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 hakt es? Erstens: Wir haben noch keine eigenen gelabelten Trainingsbilder, deshalb läuft die Detektion aktuell über den klassischen Fallback statt über das trainierte YOLO – das Modell best.pt und das mAP-Ziel über 0,8 stehen noch aus. Zweitens: YOLO gibt nur eine achsparallele Box aus, daher sind die vier Eckpunkte für die Entzerrung nur eine Näherung; eine echte gedrehte Box käme bisher nur aus dem klassischen Pfad. Drittens, und das ist das Hauptrisiko laut unserer Analyse: wechselndes Licht und Reflexionen auf Glas und Kronkorken. Und viertens sind die beiden Klassifikationsstufen zwar durchdacht, aber noch nicht umgesetzt – genau das nehmen wir uns für den Juni vor.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Unser Plan bis zur Abschlusspräsentation am 23. Juni: Zuerst echte Fotos in verschiedenen Winkeln, Lichtsituationen und Rotationen aufnehmen und labeln, dann YOLOv8 fine-tunen mit dem Ziel mAP über 0,8. Darauf bauen die beiden Klassifikationsstufen auf: Stufe 1 entscheidet je Slot voll oder leer – klassisch über Hough-Kreise und Helligkeit, plus ein kleines CNN oder HOG+SVM. Stufe 2 prüft den Kronkorken über HSV als Fallback und ein CNN. Am Ende steht das farbcodierte Overlay – grün voll, gelb leer, rot fehlt – mit einer Gesamtstatistik, dazu eine Frame-Stabilisierung gegen Flackern und eine genauere Entzerrung über echte Oberflächen-Ecken. Wichtig: Die geometrische Pipeline steht bereits – sie ist das Fundament, auf dem die ML-Klassifikation im Juni aufsetzt. Vielen Dank.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874519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874519"/>
            <a:ext cx="12191695" cy="635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84048"/>
            <a:ext cx="10972800" cy="13716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Bierkasten-Erkennung</a:t>
            </a:r>
          </a:p>
          <a:p>
            <a:pPr>
              <a:spcBef>
                <a:spcPts val="400"/>
              </a:spcBef>
            </a:pPr>
            <a:r>
              <a:rPr sz="1800" b="0" i="0">
                <a:solidFill>
                  <a:srgbClr val="CFDDEC"/>
                </a:solidFill>
                <a:latin typeface="Calibri"/>
              </a:rPr>
              <a:t>Zwischenstand — Hybridansatz: Klassische Bildverarbeitung + Machine Learning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E1A100"/>
                </a:solidFill>
                <a:latin typeface="Calibri"/>
              </a:rPr>
              <a:t>Mia Scharpf · David Krieger · Robin Müller — AKI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5486400" cy="274320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B3A5B"/>
                </a:solidFill>
                <a:latin typeface="Calibri"/>
              </a:rPr>
              <a:t>Ziel</a:t>
            </a:r>
            <a:r>
              <a:rPr sz="1400" b="1">
                <a:solidFill>
                  <a:srgbClr val="E1A10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12529"/>
                </a:solidFill>
                <a:latin typeface="Calibri"/>
              </a:rPr>
              <a:t>Ist der Kasten vollständig befüllt? (Flasche vorhanden / Slot leer)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212529"/>
                </a:solidFill>
                <a:latin typeface="Calibri"/>
              </a:rPr>
              <a:t>Füllzustand eines Bierkastens in Echtzeit per Kamera erkennen (Prototyp: Paulaner Weißbier, 4×5 = 20 Flaschen).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>
                <a:solidFill>
                  <a:srgbClr val="E1A10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12529"/>
                </a:solidFill>
                <a:latin typeface="Calibri"/>
              </a:rPr>
              <a:t>Sind die Flaschen voll oder leer? (Kronkorken vorhanden = voll)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2240280"/>
            <a:ext cx="5285232" cy="1874519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395728"/>
            <a:ext cx="4846320" cy="16459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B3A5B"/>
                </a:solidFill>
                <a:latin typeface="Calibri"/>
              </a:rPr>
              <a:t>Warum hybrid?</a:t>
            </a:r>
            <a:r>
              <a:rPr sz="1300" b="1">
                <a:solidFill>
                  <a:srgbClr val="E1A1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Klassische CV: schnell, deterministisch, kein Training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1A100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12529"/>
                </a:solidFill>
                <a:latin typeface="Calibri"/>
              </a:rPr>
              <a:t>ML: robust gegen Licht, Reflexionen, Perspektive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E1A100"/>
                </a:solidFill>
                <a:latin typeface="Calibri"/>
              </a:rPr>
              <a:t>•  </a:t>
            </a:r>
            <a:r>
              <a:rPr sz="1300" b="1" i="0">
                <a:solidFill>
                  <a:srgbClr val="212529"/>
                </a:solidFill>
                <a:latin typeface="Calibri"/>
              </a:rPr>
              <a:t>→ Geometrie klassisch, Semantik per 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731520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400" b="1" i="0">
                <a:solidFill>
                  <a:srgbClr val="1B3A5B"/>
                </a:solidFill>
                <a:latin typeface="Calibri"/>
              </a:rPr>
              <a:t>Pipeline (pro Frame)</a:t>
            </a:r>
          </a:p>
        </p:txBody>
      </p:sp>
      <p:sp>
        <p:nvSpPr>
          <p:cNvPr id="10" name="Chevron 9"/>
          <p:cNvSpPr/>
          <p:nvPr/>
        </p:nvSpPr>
        <p:spPr>
          <a:xfrm>
            <a:off x="502920" y="4937760"/>
            <a:ext cx="1627632" cy="841248"/>
          </a:xfrm>
          <a:prstGeom prst="chevron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42C46"/>
                </a:solidFill>
                <a:latin typeface="Calibri"/>
              </a:rPr>
              <a:t>Aufnahme</a:t>
            </a:r>
          </a:p>
        </p:txBody>
      </p:sp>
      <p:sp>
        <p:nvSpPr>
          <p:cNvPr id="11" name="Chevron 10"/>
          <p:cNvSpPr/>
          <p:nvPr/>
        </p:nvSpPr>
        <p:spPr>
          <a:xfrm>
            <a:off x="2075688" y="4937760"/>
            <a:ext cx="1627632" cy="841248"/>
          </a:xfrm>
          <a:prstGeom prst="chevron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42C46"/>
                </a:solidFill>
                <a:latin typeface="Calibri"/>
              </a:rPr>
              <a:t>Kasten-</a:t>
            </a:r>
          </a:p>
          <a:p>
            <a:pPr algn="ctr"/>
            <a:r>
              <a:rPr sz="1100" b="1" i="0">
                <a:solidFill>
                  <a:srgbClr val="142C46"/>
                </a:solidFill>
                <a:latin typeface="Calibri"/>
              </a:rPr>
              <a:t>detektion</a:t>
            </a:r>
          </a:p>
        </p:txBody>
      </p:sp>
      <p:sp>
        <p:nvSpPr>
          <p:cNvPr id="12" name="Chevron 11"/>
          <p:cNvSpPr/>
          <p:nvPr/>
        </p:nvSpPr>
        <p:spPr>
          <a:xfrm>
            <a:off x="3648456" y="4937760"/>
            <a:ext cx="1627632" cy="841248"/>
          </a:xfrm>
          <a:prstGeom prst="chevron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42C46"/>
                </a:solidFill>
                <a:latin typeface="Calibri"/>
              </a:rPr>
              <a:t>Entzerrung</a:t>
            </a:r>
          </a:p>
        </p:txBody>
      </p:sp>
      <p:sp>
        <p:nvSpPr>
          <p:cNvPr id="13" name="Chevron 12"/>
          <p:cNvSpPr/>
          <p:nvPr/>
        </p:nvSpPr>
        <p:spPr>
          <a:xfrm>
            <a:off x="5221224" y="4937760"/>
            <a:ext cx="1627632" cy="841248"/>
          </a:xfrm>
          <a:prstGeom prst="chevron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42C46"/>
                </a:solidFill>
                <a:latin typeface="Calibri"/>
              </a:rPr>
              <a:t>Grid 4×5</a:t>
            </a:r>
          </a:p>
        </p:txBody>
      </p:sp>
      <p:sp>
        <p:nvSpPr>
          <p:cNvPr id="14" name="Chevron 13"/>
          <p:cNvSpPr/>
          <p:nvPr/>
        </p:nvSpPr>
        <p:spPr>
          <a:xfrm>
            <a:off x="6793992" y="4937760"/>
            <a:ext cx="1627632" cy="841248"/>
          </a:xfrm>
          <a:prstGeom prst="chevron">
            <a:avLst/>
          </a:prstGeom>
          <a:solidFill>
            <a:srgbClr val="D7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6B7480"/>
                </a:solidFill>
                <a:latin typeface="Calibri"/>
              </a:rPr>
              <a:t>Stufe 1</a:t>
            </a:r>
          </a:p>
          <a:p>
            <a:pPr algn="ctr"/>
            <a:r>
              <a:rPr sz="1100" b="1" i="0">
                <a:solidFill>
                  <a:srgbClr val="6B7480"/>
                </a:solidFill>
                <a:latin typeface="Calibri"/>
              </a:rPr>
              <a:t>voll/leer</a:t>
            </a:r>
          </a:p>
        </p:txBody>
      </p:sp>
      <p:sp>
        <p:nvSpPr>
          <p:cNvPr id="15" name="Chevron 14"/>
          <p:cNvSpPr/>
          <p:nvPr/>
        </p:nvSpPr>
        <p:spPr>
          <a:xfrm>
            <a:off x="8366760" y="4937760"/>
            <a:ext cx="1627632" cy="841248"/>
          </a:xfrm>
          <a:prstGeom prst="chevron">
            <a:avLst/>
          </a:prstGeom>
          <a:solidFill>
            <a:srgbClr val="D7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6B7480"/>
                </a:solidFill>
                <a:latin typeface="Calibri"/>
              </a:rPr>
              <a:t>Stufe 2</a:t>
            </a:r>
          </a:p>
          <a:p>
            <a:pPr algn="ctr"/>
            <a:r>
              <a:rPr sz="1100" b="1" i="0">
                <a:solidFill>
                  <a:srgbClr val="6B7480"/>
                </a:solidFill>
                <a:latin typeface="Calibri"/>
              </a:rPr>
              <a:t>Kronkorken</a:t>
            </a:r>
          </a:p>
        </p:txBody>
      </p:sp>
      <p:sp>
        <p:nvSpPr>
          <p:cNvPr id="16" name="Chevron 15"/>
          <p:cNvSpPr/>
          <p:nvPr/>
        </p:nvSpPr>
        <p:spPr>
          <a:xfrm>
            <a:off x="9939528" y="4937760"/>
            <a:ext cx="1627632" cy="841248"/>
          </a:xfrm>
          <a:prstGeom prst="chevron">
            <a:avLst/>
          </a:prstGeom>
          <a:solidFill>
            <a:srgbClr val="D7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6B7480"/>
                </a:solidFill>
                <a:latin typeface="Calibri"/>
              </a:rPr>
              <a:t>Overlay +</a:t>
            </a:r>
          </a:p>
          <a:p>
            <a:pPr algn="ctr"/>
            <a:r>
              <a:rPr sz="1100" b="1" i="0">
                <a:solidFill>
                  <a:srgbClr val="6B7480"/>
                </a:solidFill>
                <a:latin typeface="Calibri"/>
              </a:rPr>
              <a:t>Statistik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943600"/>
            <a:ext cx="256032" cy="164592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" y="5907024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100" b="0" i="0">
                <a:solidFill>
                  <a:srgbClr val="212529"/>
                </a:solidFill>
                <a:latin typeface="Calibri"/>
              </a:rPr>
              <a:t>umgesetzt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5943600"/>
            <a:ext cx="256032" cy="164592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5907024"/>
            <a:ext cx="182880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100" b="0" i="0">
                <a:solidFill>
                  <a:srgbClr val="212529"/>
                </a:solidFill>
                <a:latin typeface="Calibri"/>
              </a:rPr>
              <a:t>geplant (Juni)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900" b="0" i="0">
                <a:solidFill>
                  <a:srgbClr val="6B7480"/>
                </a:solidFill>
                <a:latin typeface="Calibri"/>
              </a:rPr>
              <a:t>Mia Scharpf · David Krieger · Robin Müller — AKI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0" y="6473952"/>
            <a:ext cx="2240280" cy="310896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Zwischenstand · 02.06.2026 · 1/4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778240" cy="7315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Umgesetzt: Kastendetektion &amp; Entzerrung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46888"/>
            <a:ext cx="2194560" cy="457200"/>
          </a:xfrm>
          <a:prstGeom prst="round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42C46"/>
                </a:solidFill>
                <a:latin typeface="Calibri"/>
              </a:rPr>
              <a:t>Schritte 2–4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6035040" cy="4937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1B3A5B"/>
                </a:solidFill>
                <a:latin typeface="Calibri"/>
              </a:rPr>
              <a:t>Was läuft (getestet)</a:t>
            </a: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212529"/>
                </a:solidFill>
                <a:latin typeface="Calibri"/>
              </a:rPr>
              <a:t>Kastendetektion zweigleisig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212529"/>
                </a:solidFill>
                <a:latin typeface="Calibri"/>
              </a:rPr>
              <a:t>YOLOv8 (Ultralytics) als primärer Detektor – Fine-Tuning vorbereitet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212529"/>
                </a:solidFill>
                <a:latin typeface="Calibri"/>
              </a:rPr>
              <a:t>Klassischer Fallback: Canny + Konturen + minAreaRect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Schnittstelle detect_crate(frame) → Bounding Box + 4 Eckpunkte + Konfidenz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Stärkerer klassischer Detektor: HSV-Rot + Otsu + Hough + Hu-Momente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Perspektivische Entzerrung (Warp) → normierte Draufsicht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Grid Mapping 4×5 → 20 Slot-Mittelpunkte + Rückprojektion + ROI je Slot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0" i="0">
                <a:solidFill>
                  <a:srgbClr val="212529"/>
                </a:solidFill>
                <a:latin typeface="Calibri"/>
              </a:rPr>
              <a:t>Komplette Daten-/Trainings-Pipeline: Label-UI, Split, YOLOv8-Training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E1A100"/>
                </a:solidFill>
                <a:latin typeface="Calibri"/>
              </a:rPr>
              <a:t>•  </a:t>
            </a:r>
            <a:r>
              <a:rPr sz="1350" b="1" i="0">
                <a:solidFill>
                  <a:srgbClr val="212529"/>
                </a:solidFill>
                <a:latin typeface="Calibri"/>
              </a:rPr>
              <a:t>End-to-End-Smoke-Test grün: Detektion → Entzerrung → Grid</a:t>
            </a:r>
          </a:p>
        </p:txBody>
      </p:sp>
      <p:pic>
        <p:nvPicPr>
          <p:cNvPr id="8" name="Picture 7" descr="01_det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325880"/>
            <a:ext cx="2606040" cy="1954530"/>
          </a:xfrm>
          <a:prstGeom prst="rect">
            <a:avLst/>
          </a:prstGeom>
        </p:spPr>
      </p:pic>
      <p:pic>
        <p:nvPicPr>
          <p:cNvPr id="9" name="Picture 8" descr="04_grid_on_orig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325880"/>
            <a:ext cx="2606040" cy="195453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37960" y="3310128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/>
            <a:r>
              <a:rPr sz="1000" b="0" i="1">
                <a:solidFill>
                  <a:srgbClr val="6B7480"/>
                </a:solidFill>
                <a:latin typeface="Calibri"/>
              </a:rPr>
              <a:t>Detektion: Box + 4 Ecken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9720" y="3310128"/>
            <a:ext cx="2606040" cy="27432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/>
            <a:r>
              <a:rPr sz="1000" b="0" i="1">
                <a:solidFill>
                  <a:srgbClr val="6B7480"/>
                </a:solidFill>
                <a:latin typeface="Calibri"/>
              </a:rPr>
              <a:t>Warp + 4×5-Grid (20 Slots)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639312"/>
            <a:ext cx="5257800" cy="320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ctr"/>
            <a:r>
              <a:rPr sz="950" b="0" i="1">
                <a:solidFill>
                  <a:srgbClr val="6B7480"/>
                </a:solidFill>
                <a:latin typeface="Calibri"/>
              </a:rPr>
              <a:t>Bilder: synthetischer Test — echte Fotos folgen im Juni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4114800"/>
            <a:ext cx="5257800" cy="17830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37960" y="4114800"/>
            <a:ext cx="76200" cy="178308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4279392"/>
            <a:ext cx="4846320" cy="14630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400" b="1" i="0">
                <a:solidFill>
                  <a:srgbClr val="1B3A5B"/>
                </a:solidFill>
                <a:latin typeface="Calibri"/>
              </a:rPr>
              <a:t>Schnittstelle ans Grid-Modul</a:t>
            </a:r>
          </a:p>
          <a:p>
            <a:pPr>
              <a:spcBef>
                <a:spcPts val="800"/>
              </a:spcBef>
            </a:pPr>
            <a:r>
              <a:rPr sz="1300" b="1" i="0">
                <a:solidFill>
                  <a:srgbClr val="212529"/>
                </a:solidFill>
                <a:latin typeface="Consolas"/>
              </a:rPr>
              <a:t>detect_crate(frame)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onsolas"/>
              </a:rPr>
              <a:t>→ Bounding Box (x, y, w, h)</a:t>
            </a:r>
          </a:p>
          <a:p>
            <a:pPr>
              <a:spcBef>
                <a:spcPts val="200"/>
              </a:spcBef>
            </a:pPr>
            <a:r>
              <a:rPr sz="1250" b="0" i="0">
                <a:solidFill>
                  <a:srgbClr val="212529"/>
                </a:solidFill>
                <a:latin typeface="Consolas"/>
              </a:rPr>
              <a:t>→ 4 Eckpunkte (TL,TR,BR,BL) + Konfidenz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900" b="0" i="0">
                <a:solidFill>
                  <a:srgbClr val="6B7480"/>
                </a:solidFill>
                <a:latin typeface="Calibri"/>
              </a:rPr>
              <a:t>Mia Scharpf · David Krieger · Robin Müller — AKI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6473952"/>
            <a:ext cx="2240280" cy="310896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Zwischenstand · 02.06.2026 · 2/4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778240" cy="7315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Schwierigkeiten &amp; Erkenntnisse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46888"/>
            <a:ext cx="2194560" cy="457200"/>
          </a:xfrm>
          <a:prstGeom prst="round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42C46"/>
                </a:solidFill>
                <a:latin typeface="Calibri"/>
              </a:rPr>
              <a:t>Offene Punkte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4068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76200" cy="22860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4937760" cy="19202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600" b="1" i="0">
                <a:solidFill>
                  <a:srgbClr val="1B3A5B"/>
                </a:solidFill>
                <a:latin typeface="Calibri"/>
              </a:rPr>
              <a:t>Noch keine Trainingsdaten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212529"/>
                </a:solidFill>
                <a:latin typeface="Calibri"/>
              </a:rPr>
              <a:t>YOLO läuft bisher nur über den klassischen Fallback. Eigene Fotos, best.pt und das Ziel mAP &gt; 0,8 stehen noch aus.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25880"/>
            <a:ext cx="544068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325880"/>
            <a:ext cx="76200" cy="22860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527048"/>
            <a:ext cx="4937760" cy="19202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600" b="1" i="0">
                <a:solidFill>
                  <a:srgbClr val="1B3A5B"/>
                </a:solidFill>
                <a:latin typeface="Calibri"/>
              </a:rPr>
              <a:t>Eckpunkte nur Näherung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212529"/>
                </a:solidFill>
                <a:latin typeface="Calibri"/>
              </a:rPr>
              <a:t>YOLO liefert eine achsparallele Box → die 4 Ecken für die Entzerrung sind approximiert. Orientierung gibt bisher nur der klassische Pfad (OBB/Pose offen).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840480"/>
            <a:ext cx="544068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840480"/>
            <a:ext cx="76200" cy="22860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041648"/>
            <a:ext cx="4937760" cy="19202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600" b="1" i="0">
                <a:solidFill>
                  <a:srgbClr val="1B3A5B"/>
                </a:solidFill>
                <a:latin typeface="Calibri"/>
              </a:rPr>
              <a:t>Hauptrisiko: Licht &amp; Reflexionen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212529"/>
                </a:solidFill>
                <a:latin typeface="Calibri"/>
              </a:rPr>
              <a:t>Wechselndes Licht und Reflexionen auf Glas/Kronkorken erschweren die spätere Klassifikation – laut Risikoanalyse das größte Risiko.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3840480"/>
            <a:ext cx="5440680" cy="228600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3840480"/>
            <a:ext cx="76200" cy="22860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4041648"/>
            <a:ext cx="4937760" cy="192024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600" b="1" i="0">
                <a:solidFill>
                  <a:srgbClr val="1B3A5B"/>
                </a:solidFill>
                <a:latin typeface="Calibri"/>
              </a:rPr>
              <a:t>Stufe 1 &amp; 2 noch offen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212529"/>
                </a:solidFill>
                <a:latin typeface="Calibri"/>
              </a:rPr>
              <a:t>Slot voll/leer und Kronkorken-Erkennung sind konzipiert, aber noch nicht implementiert – das ist der Schwerpunkt für Juni.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900" b="0" i="0">
                <a:solidFill>
                  <a:srgbClr val="6B7480"/>
                </a:solidFill>
                <a:latin typeface="Calibri"/>
              </a:rPr>
              <a:t>Mia Scharpf · David Krieger · Robin Müller — AKI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6473952"/>
            <a:ext cx="2240280" cy="310896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Zwischenstand · 02.06.2026 · 3/4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50800"/>
          </a:xfrm>
          <a:prstGeom prst="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"/>
            <a:ext cx="8778240" cy="7315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r>
              <a:rPr sz="2700" b="1" i="0">
                <a:solidFill>
                  <a:srgbClr val="FFFFFF"/>
                </a:solidFill>
                <a:latin typeface="Calibri"/>
              </a:rPr>
              <a:t>Ausblick: bis zur Abschlusspräsentation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601200" y="246888"/>
            <a:ext cx="2194560" cy="457200"/>
          </a:xfrm>
          <a:prstGeom prst="roundRect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 i="0">
                <a:solidFill>
                  <a:srgbClr val="142C46"/>
                </a:solidFill>
                <a:latin typeface="Calibri"/>
              </a:rPr>
              <a:t>23.06.2026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6766560" cy="4937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500" b="1" i="0">
                <a:solidFill>
                  <a:srgbClr val="1B3A5B"/>
                </a:solidFill>
                <a:latin typeface="Calibri"/>
              </a:rPr>
              <a:t>Meilensteine Juni</a:t>
            </a:r>
            <a:r>
              <a:rPr sz="1400" b="1">
                <a:solidFill>
                  <a:srgbClr val="E1A10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12529"/>
                </a:solidFill>
                <a:latin typeface="Calibri"/>
              </a:rPr>
              <a:t>Fotos aufnehmen (Winkel/Licht/Rotation) + labeln → YOLOv8 fine-tunen (best.pt, mAP &gt; 0,8)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E1A10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12529"/>
                </a:solidFill>
                <a:latin typeface="Calibri"/>
              </a:rPr>
              <a:t>Stufe 1 – Slot voll/leer: klassisch (Hough/Helligkeit) + ML (CNN / HOG+SVM)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E1A10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12529"/>
                </a:solidFill>
                <a:latin typeface="Calibri"/>
              </a:rPr>
              <a:t>Stufe 2 – Kronkorken: HSV-Fallback + CNN (robust gegen Reflexionen)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E1A10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12529"/>
                </a:solidFill>
                <a:latin typeface="Calibri"/>
              </a:rPr>
              <a:t>Farbcodiertes Overlay + Gesamtstatistik (z. B. „15/20, davon 12 voll“)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E1A10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12529"/>
                </a:solidFill>
                <a:latin typeface="Calibri"/>
              </a:rPr>
              <a:t>Frame-Stabilisierung (10 stabile Frames) gegen Flackern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400" b="1">
                <a:solidFill>
                  <a:srgbClr val="E1A100"/>
                </a:solidFill>
                <a:latin typeface="Calibri"/>
              </a:rPr>
              <a:t>•  </a:t>
            </a:r>
            <a:r>
              <a:rPr sz="1400" b="0" i="0">
                <a:solidFill>
                  <a:srgbClr val="212529"/>
                </a:solidFill>
                <a:latin typeface="Calibri"/>
              </a:rPr>
              <a:t>Genauere Entzerrung über echte Oberflächen-Ecken / Oriented Bounding Box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89520" y="1325880"/>
            <a:ext cx="4069080" cy="2240280"/>
          </a:xfrm>
          <a:prstGeom prst="roundRect">
            <a:avLst/>
          </a:prstGeom>
          <a:solidFill>
            <a:srgbClr val="F4F6F8"/>
          </a:solidFill>
          <a:ln w="12700">
            <a:solidFill>
              <a:srgbClr val="D7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481328"/>
            <a:ext cx="356616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400" b="1" i="0">
                <a:solidFill>
                  <a:srgbClr val="1B3A5B"/>
                </a:solidFill>
                <a:latin typeface="Calibri"/>
              </a:rPr>
              <a:t>Ziel-Overlay (Legende)</a:t>
            </a:r>
          </a:p>
        </p:txBody>
      </p:sp>
      <p:sp>
        <p:nvSpPr>
          <p:cNvPr id="10" name="Oval 9"/>
          <p:cNvSpPr/>
          <p:nvPr/>
        </p:nvSpPr>
        <p:spPr>
          <a:xfrm>
            <a:off x="7909560" y="2057400"/>
            <a:ext cx="310896" cy="310896"/>
          </a:xfrm>
          <a:prstGeom prst="ellipse">
            <a:avLst/>
          </a:prstGeom>
          <a:solidFill>
            <a:srgbClr val="2E9E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2039112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300" b="0" i="0">
                <a:solidFill>
                  <a:srgbClr val="212529"/>
                </a:solidFill>
                <a:latin typeface="Calibri"/>
              </a:rPr>
              <a:t>grün = Flasche voll</a:t>
            </a:r>
          </a:p>
        </p:txBody>
      </p:sp>
      <p:sp>
        <p:nvSpPr>
          <p:cNvPr id="12" name="Oval 11"/>
          <p:cNvSpPr/>
          <p:nvPr/>
        </p:nvSpPr>
        <p:spPr>
          <a:xfrm>
            <a:off x="7909560" y="2560320"/>
            <a:ext cx="310896" cy="310896"/>
          </a:xfrm>
          <a:prstGeom prst="ellipse">
            <a:avLst/>
          </a:prstGeom>
          <a:solidFill>
            <a:srgbClr val="E1A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2542032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300" b="0" i="0">
                <a:solidFill>
                  <a:srgbClr val="212529"/>
                </a:solidFill>
                <a:latin typeface="Calibri"/>
              </a:rPr>
              <a:t>gelb = Flasche leer</a:t>
            </a:r>
          </a:p>
        </p:txBody>
      </p:sp>
      <p:sp>
        <p:nvSpPr>
          <p:cNvPr id="14" name="Oval 13"/>
          <p:cNvSpPr/>
          <p:nvPr/>
        </p:nvSpPr>
        <p:spPr>
          <a:xfrm>
            <a:off x="7909560" y="3063240"/>
            <a:ext cx="310896" cy="310896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3044952"/>
            <a:ext cx="3108960" cy="365760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1300" b="0" i="0">
                <a:solidFill>
                  <a:srgbClr val="212529"/>
                </a:solidFill>
                <a:latin typeface="Calibri"/>
              </a:rPr>
              <a:t>rot = Slot fehlt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89520" y="3840480"/>
            <a:ext cx="4069080" cy="1554480"/>
          </a:xfrm>
          <a:prstGeom prst="roundRect">
            <a:avLst/>
          </a:prstGeom>
          <a:solidFill>
            <a:srgbClr val="1B3A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041648"/>
            <a:ext cx="3566160" cy="1188720"/>
          </a:xfrm>
          <a:prstGeom prst="rect">
            <a:avLst/>
          </a:prstGeom>
          <a:noFill/>
        </p:spPr>
        <p:txBody>
          <a:bodyPr wrap="square" anchor="ctr" lIns="25400" rIns="25400" tIns="0" bIns="0">
            <a:spAutoFit/>
          </a:bodyPr>
          <a:lstStyle/>
          <a:p>
            <a:r>
              <a:rPr sz="1500" b="1" i="0">
                <a:solidFill>
                  <a:srgbClr val="E1A100"/>
                </a:solidFill>
                <a:latin typeface="Calibri"/>
              </a:rPr>
              <a:t>Fundament steht</a:t>
            </a:r>
          </a:p>
          <a:p>
            <a:pPr>
              <a:spcBef>
                <a:spcPts val="400"/>
              </a:spcBef>
            </a:pPr>
            <a:r>
              <a:rPr sz="1250" b="0" i="0">
                <a:solidFill>
                  <a:srgbClr val="FFFFFF"/>
                </a:solidFill>
                <a:latin typeface="Calibri"/>
              </a:rPr>
              <a:t>Geometrie-Pipeline (Detektion → Entzerrung → Grid) ist die Basis für die ML-Klassifikation im Juni.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419088"/>
            <a:ext cx="11183112" cy="12700"/>
          </a:xfrm>
          <a:prstGeom prst="rect">
            <a:avLst/>
          </a:prstGeom>
          <a:solidFill>
            <a:srgbClr val="D7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73952"/>
            <a:ext cx="8229600" cy="310896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r>
              <a:rPr sz="900" b="0" i="0">
                <a:solidFill>
                  <a:srgbClr val="6B7480"/>
                </a:solidFill>
                <a:latin typeface="Calibri"/>
              </a:rPr>
              <a:t>Mia Scharpf · David Krieger · Robin Müller — AKI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6473952"/>
            <a:ext cx="2240280" cy="310896"/>
          </a:xfrm>
          <a:prstGeom prst="rect">
            <a:avLst/>
          </a:prstGeom>
          <a:noFill/>
        </p:spPr>
        <p:txBody>
          <a:bodyPr wrap="square" anchor="t" lIns="25400" rIns="25400" tIns="0" bIns="0">
            <a:spAutoFit/>
          </a:bodyPr>
          <a:lstStyle/>
          <a:p>
            <a:pPr algn="r"/>
            <a:r>
              <a:rPr sz="900" b="0" i="0">
                <a:solidFill>
                  <a:srgbClr val="6B7480"/>
                </a:solidFill>
                <a:latin typeface="Calibri"/>
              </a:rPr>
              <a:t>Zwischenstand · 02.06.2026 · 4/4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